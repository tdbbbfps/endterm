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1" r:id="rId4"/>
    <p:sldId id="260" r:id="rId5"/>
    <p:sldId id="262" r:id="rId6"/>
    <p:sldId id="259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8141" autoAdjust="0"/>
  </p:normalViewPr>
  <p:slideViewPr>
    <p:cSldViewPr snapToGrid="0">
      <p:cViewPr>
        <p:scale>
          <a:sx n="66" d="100"/>
          <a:sy n="66" d="100"/>
        </p:scale>
        <p:origin x="1330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7298D0-5A24-4367-BA97-B4D81F20FD6F}" type="datetimeFigureOut">
              <a:rPr lang="zh-TW" altLang="en-US" smtClean="0"/>
              <a:t>2026/1/8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FC3E5B-6578-4B1F-8BB6-A842ADE7D21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1109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使用</a:t>
            </a:r>
            <a:r>
              <a:rPr lang="en-US" altLang="zh-TW" dirty="0"/>
              <a:t>SQLITE</a:t>
            </a:r>
            <a:r>
              <a:rPr lang="zh-TW" altLang="en-US" dirty="0"/>
              <a:t>來儲存所有交易記錄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FC3E5B-6578-4B1F-8BB6-A842ADE7D21B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53061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FC3E5B-6578-4B1F-8BB6-A842ADE7D21B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37853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使用</a:t>
            </a:r>
            <a:r>
              <a:rPr lang="en-US" altLang="zh-TW" dirty="0" err="1"/>
              <a:t>Chart+SectorMark</a:t>
            </a:r>
            <a:r>
              <a:rPr lang="zh-TW" altLang="en-US" dirty="0"/>
              <a:t>來製作圓餅圖，統計交易記錄收入與支出並繪製，綠色為收入、紅色為支出。中間的結餘文字，利用 </a:t>
            </a:r>
            <a:r>
              <a:rPr lang="en-US" altLang="zh-TW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ZStack</a:t>
            </a:r>
            <a:r>
              <a:rPr lang="zh-TW" altLang="en-US" dirty="0"/>
              <a:t> 和 </a:t>
            </a:r>
            <a:r>
              <a:rPr lang="en-US" altLang="zh-TW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GeometryReader</a:t>
            </a:r>
            <a:r>
              <a:rPr lang="zh-TW" altLang="en-US" dirty="0"/>
              <a:t> 把它放在圓餅圖的中心。</a:t>
            </a:r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這裡我使用了 </a:t>
            </a:r>
            <a:r>
              <a:rPr lang="en-US" altLang="zh-TW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ScrollView</a:t>
            </a:r>
            <a:r>
              <a:rPr lang="zh-TW" altLang="en-US" dirty="0"/>
              <a:t> 搭配 </a:t>
            </a:r>
            <a:r>
              <a:rPr lang="en-US" altLang="zh-TW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LazyVStack</a:t>
            </a:r>
            <a:r>
              <a:rPr lang="zh-TW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，交易記錄展示了交易類別、註記、時間、金額與刪除按鈕。</a:t>
            </a:r>
            <a:endParaRPr lang="en-US" altLang="zh-TW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程式端主要透過</a:t>
            </a:r>
            <a:r>
              <a:rPr lang="en-US" altLang="zh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@State</a:t>
            </a:r>
            <a:r>
              <a:rPr lang="zh-TW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宣告一個陣列來存放所有交易記錄，當交易記錄改變時就會更新</a:t>
            </a:r>
            <a:r>
              <a:rPr lang="en-US" altLang="zh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VIEW</a:t>
            </a:r>
            <a:r>
              <a:rPr lang="zh-TW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FC3E5B-6578-4B1F-8BB6-A842ADE7D21B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55005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使用了</a:t>
            </a:r>
            <a:r>
              <a:rPr lang="en-US" altLang="zh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Form</a:t>
            </a:r>
            <a:r>
              <a:rPr lang="zh-TW" altLang="en-US" dirty="0"/>
              <a:t>、</a:t>
            </a:r>
            <a:r>
              <a:rPr lang="en-US" altLang="zh-TW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DatePicker</a:t>
            </a:r>
            <a:r>
              <a:rPr lang="zh-TW" altLang="en-US" dirty="0"/>
              <a:t>、</a:t>
            </a:r>
            <a:r>
              <a:rPr lang="en-US" altLang="zh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Picker</a:t>
            </a:r>
            <a:r>
              <a:rPr lang="zh-TW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、</a:t>
            </a:r>
            <a:r>
              <a:rPr lang="en-US" altLang="zh-TW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TextField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在收支</a:t>
            </a:r>
            <a:r>
              <a:rPr lang="en-US" altLang="zh-TW" dirty="0"/>
              <a:t>picker</a:t>
            </a:r>
            <a:r>
              <a:rPr lang="zh-TW" altLang="en-US" dirty="0"/>
              <a:t>部份透過</a:t>
            </a:r>
            <a:r>
              <a:rPr lang="en-US" altLang="zh-TW" dirty="0" err="1"/>
              <a:t>onChange</a:t>
            </a:r>
            <a:r>
              <a:rPr lang="zh-TW" altLang="en-US" dirty="0"/>
              <a:t>，當使用者在切換時，下方的類別選單會自動更換對應的類別。</a:t>
            </a:r>
          </a:p>
          <a:p>
            <a:r>
              <a:rPr lang="zh-TW" altLang="en-US" dirty="0"/>
              <a:t> 比如選「支出」，下面就顯示飲食、交通；選「收入」，下面就自動變成薪水、獎金。這是透過 </a:t>
            </a:r>
            <a:r>
              <a:rPr lang="en-US" altLang="zh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Enum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列舉</a:t>
            </a:r>
            <a:r>
              <a:rPr lang="en-US" altLang="zh-TW" dirty="0"/>
              <a:t>) </a:t>
            </a:r>
            <a:r>
              <a:rPr lang="zh-TW" altLang="en-US" dirty="0"/>
              <a:t>的切換來實現的。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FC3E5B-6578-4B1F-8BB6-A842ADE7D21B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91367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0950B-57EB-821F-8326-19C08D050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C14074E-B7C1-D8ED-1A21-5C85F30EAA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B807106-6C0B-BCBD-E8E5-68D5F2B003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當按下刪除時，程式會呼叫後端的 </a:t>
            </a:r>
            <a:r>
              <a:rPr lang="en-US" altLang="zh-TW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DBManager</a:t>
            </a:r>
            <a:r>
              <a:rPr lang="zh-TW" altLang="en-US" dirty="0"/>
              <a:t>，執行 </a:t>
            </a:r>
            <a:r>
              <a:rPr lang="en-US" altLang="zh-TW" dirty="0"/>
              <a:t>SQL </a:t>
            </a:r>
            <a:r>
              <a:rPr lang="zh-TW" altLang="en-US" dirty="0"/>
              <a:t>的 </a:t>
            </a:r>
            <a:r>
              <a:rPr lang="en-US" altLang="zh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DELETE</a:t>
            </a:r>
            <a:r>
              <a:rPr lang="zh-TW" altLang="en-US" dirty="0"/>
              <a:t> 指令從資料庫移除該筆資料，同時透過 </a:t>
            </a:r>
            <a:r>
              <a:rPr lang="en-US" altLang="zh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@State</a:t>
            </a:r>
            <a:r>
              <a:rPr lang="zh-TW" altLang="en-US" dirty="0"/>
              <a:t> 觸發介面刷新 </a:t>
            </a:r>
            <a:r>
              <a:rPr lang="en-US" altLang="zh-TW" dirty="0"/>
              <a:t>(</a:t>
            </a:r>
            <a:r>
              <a:rPr lang="en-US" altLang="zh-TW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refresh_data</a:t>
            </a:r>
            <a:r>
              <a:rPr lang="en-US" altLang="zh-TW" dirty="0"/>
              <a:t>)</a:t>
            </a:r>
            <a:r>
              <a:rPr lang="zh-TW" altLang="en-US" dirty="0"/>
              <a:t>，讓上方的圓餅圖和結餘金額</a:t>
            </a:r>
            <a:r>
              <a:rPr lang="zh-TW" altLang="en-US" b="1" dirty="0"/>
              <a:t>即時</a:t>
            </a:r>
            <a:r>
              <a:rPr lang="zh-TW" altLang="en-US" dirty="0"/>
              <a:t>重新計算並更新。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3739D6-F842-593C-FF55-33D429E91A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FC3E5B-6578-4B1F-8BB6-A842ADE7D21B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7796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541F5D-B62F-F885-4FB5-F128EC27E7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D5C5797-29EF-7FDE-1E2B-E266FBDCEB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C9462A-9482-041B-E14B-9DEDC15AE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6329D-3129-4033-8742-B423D7615AFA}" type="datetimeFigureOut">
              <a:rPr lang="zh-TW" altLang="en-US" smtClean="0"/>
              <a:t>2026/1/8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4A9C6D1-AC0C-D7FB-2449-ADCAD02CF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BF9BAA3-EDD1-5285-53D4-39367FFE2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9AC9-C571-4D82-873A-55CB759924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1275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03ECD6-076B-0AA8-BD3C-4707BE305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DCD42B-F2E6-4A16-1AAC-C2F9B99E6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175DCFA-64B4-E90F-63C8-B20EFD0ED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6329D-3129-4033-8742-B423D7615AFA}" type="datetimeFigureOut">
              <a:rPr lang="zh-TW" altLang="en-US" smtClean="0"/>
              <a:t>2026/1/8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81DA372-E293-7DEB-B59D-B80A5D63E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BBAAF44-AF1D-C335-BDF8-5DC4050E2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9AC9-C571-4D82-873A-55CB759924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6989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ABAC9F-EBA0-3A8F-2F2B-58300D510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ADAC6DB-3E1D-36BA-41E2-C5876D4883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586612F-8D77-D1C4-BF59-EFA33310D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6329D-3129-4033-8742-B423D7615AFA}" type="datetimeFigureOut">
              <a:rPr lang="zh-TW" altLang="en-US" smtClean="0"/>
              <a:t>2026/1/8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B534F6B-79A0-F7AA-8434-B7AFE7C7A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956ED0E-429D-14D7-A6A4-343C60D32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9AC9-C571-4D82-873A-55CB759924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0455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400EE0-8CC1-7809-14E1-CC6F33E9B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64E84F-ADB0-7081-7CFC-CDFD170CC6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7738D06-18DE-7588-AF77-72E9890675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D29739B-E177-1FC4-E7F8-2A4C00A23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6329D-3129-4033-8742-B423D7615AFA}" type="datetimeFigureOut">
              <a:rPr lang="zh-TW" altLang="en-US" smtClean="0"/>
              <a:t>2026/1/8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7E46D53-BB41-C351-EC87-2A9540963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A7C294B-4D04-FEB6-CF50-AA1E69618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9AC9-C571-4D82-873A-55CB759924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6328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B3DA78-433C-484E-01E6-53C104B32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409E76D-0534-E9B2-BDB8-97275E6EC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F1477D1-919B-28D1-345F-FFDC8C73E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8E62CE5-7019-8A9B-CC50-B466376053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43AA010-EA5B-143F-E5CF-40E87C56BB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8A74409-6C9B-DB35-964F-1DA6AFCA3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6329D-3129-4033-8742-B423D7615AFA}" type="datetimeFigureOut">
              <a:rPr lang="zh-TW" altLang="en-US" smtClean="0"/>
              <a:t>2026/1/8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DB83837-64C6-34BC-746F-3B05DD22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110A6A9-96BF-6A79-27BE-7A31F9DAC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9AC9-C571-4D82-873A-55CB759924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1897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10C1EA-AC88-CAD1-6959-4E7A9326A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E86155C-56EA-927F-E910-FAB0CADBC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6329D-3129-4033-8742-B423D7615AFA}" type="datetimeFigureOut">
              <a:rPr lang="zh-TW" altLang="en-US" smtClean="0"/>
              <a:t>2026/1/8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71F1A09-F0E3-0898-926E-C00E18F9C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ADE7D34-FD87-C6D4-18D0-D7FF9B474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9AC9-C571-4D82-873A-55CB759924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2611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353B152-00AD-0067-DD9A-0496521D4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6329D-3129-4033-8742-B423D7615AFA}" type="datetimeFigureOut">
              <a:rPr lang="zh-TW" altLang="en-US" smtClean="0"/>
              <a:t>2026/1/8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316443B-548F-D0B0-D27E-321752EA2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DF24DC4-8AB6-9247-B664-6345C5621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9AC9-C571-4D82-873A-55CB759924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8466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FC2FA0-CE17-DC49-C07B-EE9FF4646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C7F7DB-3898-F297-CACB-A77D00EDB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68FD014-029F-4D2F-2654-BD6FD2B7C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4C17857-4776-ED5F-E8CF-3BEC7337C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6329D-3129-4033-8742-B423D7615AFA}" type="datetimeFigureOut">
              <a:rPr lang="zh-TW" altLang="en-US" smtClean="0"/>
              <a:t>2026/1/8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D4EFEB-CFCB-9672-7E1C-44380B040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7DE5E3C-158C-9C3F-4FE3-E55B8BF38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9AC9-C571-4D82-873A-55CB759924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2778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649D6E-60F4-F9E5-A8FE-726CFA2E9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A306A69-3B03-96D1-4F79-B9818D71F4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B4BF08-E68E-5C7B-C907-48EB6EC07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2AD75C8-9177-41CC-6500-6A61AA565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6329D-3129-4033-8742-B423D7615AFA}" type="datetimeFigureOut">
              <a:rPr lang="zh-TW" altLang="en-US" smtClean="0"/>
              <a:t>2026/1/8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6106324-97AD-B90D-B517-2FB60F2D6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75FE4F3-EE7E-9B95-72B8-F7BFEF382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9AC9-C571-4D82-873A-55CB759924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19874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41404B-158C-FA13-5885-24773E7A2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7724DAE-4C5D-B081-D770-BDAD74639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9142F16-1402-000C-1A61-07CC4861F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6329D-3129-4033-8742-B423D7615AFA}" type="datetimeFigureOut">
              <a:rPr lang="zh-TW" altLang="en-US" smtClean="0"/>
              <a:t>2026/1/8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3EC9D2A-0789-49B9-BE8B-96B0474F0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B96C14-CAA9-A3E8-8D80-D24C2A966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9AC9-C571-4D82-873A-55CB759924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2498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B3FE37F-A1FF-57F3-875F-94259C2BF4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1117895-42B5-6AC5-1BD1-93C8926FAB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8A04EE0-F012-DCD5-AEBA-84AB1070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6329D-3129-4033-8742-B423D7615AFA}" type="datetimeFigureOut">
              <a:rPr lang="zh-TW" altLang="en-US" smtClean="0"/>
              <a:t>2026/1/8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32A95F5-58F5-68C1-5848-A70F8160B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D4BB19C-4B04-82BC-E25E-B6C736625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99AC9-C571-4D82-873A-55CB759924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7294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C138D37-E4C2-F441-2877-7A255B29C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0214C6F-E8AA-1293-19E2-6B82B28D3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7A12584-21A1-1DF6-A95C-92A08935C2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56329D-3129-4033-8742-B423D7615AFA}" type="datetimeFigureOut">
              <a:rPr lang="zh-TW" altLang="en-US" smtClean="0"/>
              <a:t>2026/1/8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CACE1A0-7105-9C7F-6C9A-F999EE9209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2803707-E8C3-25CB-6821-9F580E3F56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399AC9-C571-4D82-873A-55CB7599241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338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zuQwBfjnYYw?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A94871E-96FC-4ADE-815B-41A636E3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06ABDA3-64E2-B27D-1F2D-9A576765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549" y="0"/>
            <a:ext cx="6692827" cy="3892669"/>
          </a:xfrm>
        </p:spPr>
        <p:txBody>
          <a:bodyPr>
            <a:normAutofit/>
          </a:bodyPr>
          <a:lstStyle/>
          <a:p>
            <a:pPr algn="l"/>
            <a:br>
              <a:rPr lang="en-US" altLang="zh-TW" sz="6600" dirty="0">
                <a:latin typeface="Arial" panose="020B0604020202020204" pitchFamily="34" charset="0"/>
                <a:ea typeface="微軟正黑體" panose="020B0604030504040204" pitchFamily="34" charset="-120"/>
              </a:rPr>
            </a:br>
            <a:r>
              <a:rPr lang="en-US" altLang="zh-TW" sz="3200" dirty="0">
                <a:latin typeface="Arial" panose="020B0604020202020204" pitchFamily="34" charset="0"/>
                <a:ea typeface="微軟正黑體" panose="020B0604030504040204" pitchFamily="34" charset="-120"/>
              </a:rPr>
              <a:t>IOS</a:t>
            </a:r>
            <a:r>
              <a:rPr lang="zh-TW" altLang="en-US" sz="3200" dirty="0">
                <a:latin typeface="Arial" panose="020B0604020202020204" pitchFamily="34" charset="0"/>
                <a:ea typeface="微軟正黑體" panose="020B0604030504040204" pitchFamily="34" charset="-120"/>
              </a:rPr>
              <a:t>程式設計實務期末專案</a:t>
            </a:r>
            <a:br>
              <a:rPr lang="en-US" altLang="zh-TW" sz="6600" dirty="0">
                <a:latin typeface="Arial" panose="020B0604020202020204" pitchFamily="34" charset="0"/>
                <a:ea typeface="微軟正黑體" panose="020B0604030504040204" pitchFamily="34" charset="-120"/>
              </a:rPr>
            </a:br>
            <a:r>
              <a:rPr lang="en-US" altLang="zh-TW" dirty="0">
                <a:latin typeface="Arial" panose="020B0604020202020204" pitchFamily="34" charset="0"/>
                <a:ea typeface="微軟正黑體" panose="020B0604030504040204" pitchFamily="34" charset="-120"/>
              </a:rPr>
              <a:t>IOS</a:t>
            </a:r>
            <a:r>
              <a:rPr lang="zh-TW" altLang="en-US" dirty="0">
                <a:latin typeface="Arial" panose="020B0604020202020204" pitchFamily="34" charset="0"/>
                <a:ea typeface="微軟正黑體" panose="020B0604030504040204" pitchFamily="34" charset="-120"/>
              </a:rPr>
              <a:t>記帳</a:t>
            </a:r>
            <a:r>
              <a:rPr lang="en-US" altLang="zh-TW" dirty="0">
                <a:latin typeface="Arial" panose="020B0604020202020204" pitchFamily="34" charset="0"/>
                <a:ea typeface="微軟正黑體" panose="020B0604030504040204" pitchFamily="34" charset="-120"/>
              </a:rPr>
              <a:t>APP</a:t>
            </a:r>
            <a:endParaRPr lang="zh-TW" altLang="en-US" sz="6600" dirty="0">
              <a:latin typeface="Arial" panose="020B060402020202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AA97E9F-90A2-6C60-B00D-14BC1647A3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2582" y="3883898"/>
            <a:ext cx="2814320" cy="405011"/>
          </a:xfrm>
        </p:spPr>
        <p:txBody>
          <a:bodyPr>
            <a:normAutofit lnSpcReduction="10000"/>
          </a:bodyPr>
          <a:lstStyle/>
          <a:p>
            <a:r>
              <a:rPr lang="en-US" altLang="zh-TW" dirty="0"/>
              <a:t>C111118121</a:t>
            </a:r>
            <a:r>
              <a:rPr lang="zh-TW" altLang="en-US" dirty="0"/>
              <a:t>柳健棠</a:t>
            </a:r>
          </a:p>
        </p:txBody>
      </p:sp>
      <p:pic>
        <p:nvPicPr>
          <p:cNvPr id="4" name="圖片 3" descr="一張含有 行動電話, 文字, 行動裝置, 小工具 的圖片&#10;&#10;AI 產生的內容可能不正確。">
            <a:extLst>
              <a:ext uri="{FF2B5EF4-FFF2-40B4-BE49-F238E27FC236}">
                <a16:creationId xmlns:a16="http://schemas.microsoft.com/office/drawing/2014/main" id="{1F67DDD6-D425-5849-D9FD-0EB315D13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1925" y="320040"/>
            <a:ext cx="3140258" cy="5981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779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">
            <a:extLst>
              <a:ext uri="{FF2B5EF4-FFF2-40B4-BE49-F238E27FC236}">
                <a16:creationId xmlns:a16="http://schemas.microsoft.com/office/drawing/2014/main" id="{F0D31DBF-C9A4-BE51-1C6E-C46E22667AB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01038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4000"/>
              </a:lnSpc>
            </a:pPr>
            <a:r>
              <a:rPr lang="zh-TW" altLang="en-US" sz="32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專案展示</a:t>
            </a: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E35414F5-2E9C-FCCA-2847-C92003550978}"/>
              </a:ext>
            </a:extLst>
          </p:cNvPr>
          <p:cNvSpPr txBox="1">
            <a:spLocks/>
          </p:cNvSpPr>
          <p:nvPr/>
        </p:nvSpPr>
        <p:spPr>
          <a:xfrm>
            <a:off x="8303391" y="2600853"/>
            <a:ext cx="3419953" cy="27531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b="1" dirty="0">
                <a:latin typeface="Arial" panose="020B0604020202020204" pitchFamily="34" charset="0"/>
                <a:ea typeface="微軟正黑體" panose="020B0604030504040204" pitchFamily="34" charset="-120"/>
              </a:rPr>
              <a:t>主要功能</a:t>
            </a:r>
            <a:r>
              <a:rPr lang="en-US" altLang="zh-TW" sz="3200" b="1" dirty="0">
                <a:latin typeface="Arial" panose="020B0604020202020204" pitchFamily="34" charset="0"/>
                <a:ea typeface="微軟正黑體" panose="020B0604030504040204" pitchFamily="34" charset="-120"/>
              </a:rPr>
              <a:t>:</a:t>
            </a:r>
          </a:p>
          <a:p>
            <a:r>
              <a:rPr lang="en-US" altLang="zh-TW" sz="2800" dirty="0">
                <a:latin typeface="Arial" panose="020B0604020202020204" pitchFamily="34" charset="0"/>
                <a:ea typeface="微軟正黑體" panose="020B0604030504040204" pitchFamily="34" charset="-120"/>
              </a:rPr>
              <a:t>1.</a:t>
            </a:r>
            <a:r>
              <a:rPr lang="zh-TW" altLang="en-US" sz="2800" dirty="0">
                <a:latin typeface="Arial" panose="020B0604020202020204" pitchFamily="34" charset="0"/>
                <a:ea typeface="微軟正黑體" panose="020B0604030504040204" pitchFamily="34" charset="-120"/>
              </a:rPr>
              <a:t>收支比例展示圖</a:t>
            </a:r>
            <a:endParaRPr lang="en-US" altLang="zh-TW" sz="2800" dirty="0">
              <a:latin typeface="Arial" panose="020B0604020202020204" pitchFamily="34" charset="0"/>
              <a:ea typeface="微軟正黑體" panose="020B0604030504040204" pitchFamily="34" charset="-120"/>
            </a:endParaRPr>
          </a:p>
          <a:p>
            <a:r>
              <a:rPr lang="en-US" altLang="zh-TW" sz="2800" dirty="0">
                <a:latin typeface="Arial" panose="020B0604020202020204" pitchFamily="34" charset="0"/>
                <a:ea typeface="微軟正黑體" panose="020B0604030504040204" pitchFamily="34" charset="-120"/>
              </a:rPr>
              <a:t>2.</a:t>
            </a:r>
            <a:r>
              <a:rPr lang="zh-TW" altLang="en-US" sz="2800" dirty="0">
                <a:latin typeface="Arial" panose="020B0604020202020204" pitchFamily="34" charset="0"/>
                <a:ea typeface="微軟正黑體" panose="020B0604030504040204" pitchFamily="34" charset="-120"/>
              </a:rPr>
              <a:t>交易記錄</a:t>
            </a:r>
            <a:endParaRPr lang="en-US" altLang="zh-TW" sz="2800" dirty="0">
              <a:latin typeface="Arial" panose="020B0604020202020204" pitchFamily="34" charset="0"/>
              <a:ea typeface="微軟正黑體" panose="020B0604030504040204" pitchFamily="34" charset="-120"/>
            </a:endParaRPr>
          </a:p>
          <a:p>
            <a:r>
              <a:rPr lang="en-US" altLang="zh-TW" sz="2800" dirty="0">
                <a:latin typeface="Arial" panose="020B0604020202020204" pitchFamily="34" charset="0"/>
                <a:ea typeface="微軟正黑體" panose="020B0604030504040204" pitchFamily="34" charset="-120"/>
              </a:rPr>
              <a:t>3.</a:t>
            </a:r>
            <a:r>
              <a:rPr lang="zh-TW" altLang="en-US" sz="2800" dirty="0">
                <a:latin typeface="Arial" panose="020B0604020202020204" pitchFamily="34" charset="0"/>
                <a:ea typeface="微軟正黑體" panose="020B0604030504040204" pitchFamily="34" charset="-120"/>
              </a:rPr>
              <a:t>新增記錄按鈕</a:t>
            </a:r>
            <a:endParaRPr lang="en-US" altLang="zh-TW" sz="2800" dirty="0">
              <a:latin typeface="Arial" panose="020B0604020202020204" pitchFamily="34" charset="0"/>
              <a:ea typeface="微軟正黑體" panose="020B0604030504040204" pitchFamily="34" charset="-120"/>
            </a:endParaRPr>
          </a:p>
          <a:p>
            <a:r>
              <a:rPr lang="en-US" altLang="zh-TW" sz="2800" dirty="0">
                <a:latin typeface="Arial" panose="020B0604020202020204" pitchFamily="34" charset="0"/>
                <a:ea typeface="微軟正黑體" panose="020B0604030504040204" pitchFamily="34" charset="-120"/>
              </a:rPr>
              <a:t>4.</a:t>
            </a:r>
            <a:r>
              <a:rPr lang="zh-TW" altLang="en-US" sz="2800" dirty="0">
                <a:latin typeface="Arial" panose="020B0604020202020204" pitchFamily="34" charset="0"/>
                <a:ea typeface="微軟正黑體" panose="020B0604030504040204" pitchFamily="34" charset="-120"/>
              </a:rPr>
              <a:t>刪除記錄按鈕</a:t>
            </a:r>
            <a:endParaRPr lang="en-US" altLang="zh-TW" sz="2800" dirty="0">
              <a:latin typeface="Arial" panose="020B0604020202020204" pitchFamily="34" charset="0"/>
              <a:ea typeface="微軟正黑體" panose="020B0604030504040204" pitchFamily="34" charset="-120"/>
            </a:endParaRPr>
          </a:p>
          <a:p>
            <a:r>
              <a:rPr lang="en-US" altLang="zh-TW" sz="2800" dirty="0">
                <a:latin typeface="Arial" panose="020B0604020202020204" pitchFamily="34" charset="0"/>
                <a:ea typeface="微軟正黑體" panose="020B0604030504040204" pitchFamily="34" charset="-120"/>
              </a:rPr>
              <a:t>5.SQLITE</a:t>
            </a:r>
            <a:endParaRPr lang="zh-TW" altLang="en-US" sz="2800" dirty="0">
              <a:latin typeface="Arial" panose="020B0604020202020204" pitchFamily="34" charset="0"/>
              <a:ea typeface="微軟正黑體" panose="020B0604030504040204" pitchFamily="34" charset="-120"/>
            </a:endParaRPr>
          </a:p>
          <a:p>
            <a:endParaRPr lang="zh-TW" altLang="en-US" sz="2800" dirty="0">
              <a:latin typeface="Arial" panose="020B0604020202020204" pitchFamily="34" charset="0"/>
              <a:ea typeface="微軟正黑體" panose="020B0604030504040204" pitchFamily="34" charset="-120"/>
            </a:endParaRPr>
          </a:p>
        </p:txBody>
      </p:sp>
      <p:pic>
        <p:nvPicPr>
          <p:cNvPr id="16" name="圖片 15" descr="一張含有 行動電話, 文字, 行動裝置, 小工具 的圖片&#10;&#10;AI 產生的內容可能不正確。">
            <a:extLst>
              <a:ext uri="{FF2B5EF4-FFF2-40B4-BE49-F238E27FC236}">
                <a16:creationId xmlns:a16="http://schemas.microsoft.com/office/drawing/2014/main" id="{742530A2-3EBD-51F9-E66B-A4F40A227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389" y="749248"/>
            <a:ext cx="3201221" cy="6108752"/>
          </a:xfrm>
          <a:prstGeom prst="rect">
            <a:avLst/>
          </a:prstGeom>
        </p:spPr>
      </p:pic>
      <p:pic>
        <p:nvPicPr>
          <p:cNvPr id="17" name="圖片 16" descr="一張含有 行動電話, 通訊設備, 可攜式通訊裝置, 行動裝置 的圖片&#10;&#10;AI 產生的內容可能不正確。">
            <a:extLst>
              <a:ext uri="{FF2B5EF4-FFF2-40B4-BE49-F238E27FC236}">
                <a16:creationId xmlns:a16="http://schemas.microsoft.com/office/drawing/2014/main" id="{BE4B945A-F642-8598-0753-F83AF53BB8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01039"/>
            <a:ext cx="3888608" cy="6156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449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0F92E-D1B4-7CE8-BA6E-CDC7F820F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">
            <a:extLst>
              <a:ext uri="{FF2B5EF4-FFF2-40B4-BE49-F238E27FC236}">
                <a16:creationId xmlns:a16="http://schemas.microsoft.com/office/drawing/2014/main" id="{6F608F82-A12B-2BC6-22AA-8CA1D35B047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01038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4000"/>
              </a:lnSpc>
            </a:pPr>
            <a:r>
              <a:rPr lang="zh-TW" altLang="en-US" sz="32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專案展示</a:t>
            </a: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DB9CFC76-D56E-802F-4C24-ADFDDAD1C54F}"/>
              </a:ext>
            </a:extLst>
          </p:cNvPr>
          <p:cNvSpPr txBox="1">
            <a:spLocks/>
          </p:cNvSpPr>
          <p:nvPr/>
        </p:nvSpPr>
        <p:spPr>
          <a:xfrm>
            <a:off x="4900734" y="1752520"/>
            <a:ext cx="5739104" cy="141234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b="1" dirty="0">
                <a:latin typeface="Arial" panose="020B0604020202020204" pitchFamily="34" charset="0"/>
                <a:ea typeface="微軟正黑體" panose="020B0604030504040204" pitchFamily="34" charset="-120"/>
              </a:rPr>
              <a:t>收支比例展示圖：</a:t>
            </a:r>
            <a:endParaRPr lang="en-US" altLang="zh-TW" sz="3200" b="1" dirty="0">
              <a:latin typeface="Arial" panose="020B0604020202020204" pitchFamily="34" charset="0"/>
              <a:ea typeface="微軟正黑體" panose="020B0604030504040204" pitchFamily="34" charset="-120"/>
            </a:endParaRPr>
          </a:p>
          <a:p>
            <a:r>
              <a:rPr lang="zh-TW" altLang="en-US" sz="2800" dirty="0">
                <a:latin typeface="Arial" panose="020B0604020202020204" pitchFamily="34" charset="0"/>
                <a:ea typeface="微軟正黑體" panose="020B0604030504040204" pitchFamily="34" charset="-120"/>
              </a:rPr>
              <a:t>根據當前交易記錄中收入與支出的總和繪製圓餅圖。</a:t>
            </a:r>
            <a:endParaRPr lang="en-US" altLang="zh-TW" sz="2800" dirty="0">
              <a:latin typeface="Arial" panose="020B0604020202020204" pitchFamily="34" charset="0"/>
              <a:ea typeface="微軟正黑體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2B2F5D2-094C-C7AF-71D7-873ACFF073E6}"/>
              </a:ext>
            </a:extLst>
          </p:cNvPr>
          <p:cNvSpPr txBox="1">
            <a:spLocks/>
          </p:cNvSpPr>
          <p:nvPr/>
        </p:nvSpPr>
        <p:spPr>
          <a:xfrm>
            <a:off x="4900734" y="3429000"/>
            <a:ext cx="5739104" cy="141234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b="1" dirty="0">
                <a:latin typeface="Arial" panose="020B0604020202020204" pitchFamily="34" charset="0"/>
                <a:ea typeface="微軟正黑體" panose="020B0604030504040204" pitchFamily="34" charset="-120"/>
              </a:rPr>
              <a:t>交易記錄：</a:t>
            </a:r>
            <a:endParaRPr lang="en-US" altLang="zh-TW" sz="3200" b="1" dirty="0">
              <a:latin typeface="Arial" panose="020B0604020202020204" pitchFamily="34" charset="0"/>
              <a:ea typeface="微軟正黑體" panose="020B0604030504040204" pitchFamily="34" charset="-120"/>
            </a:endParaRPr>
          </a:p>
          <a:p>
            <a:r>
              <a:rPr lang="zh-TW" altLang="en-US" sz="2800" dirty="0">
                <a:latin typeface="Arial" panose="020B0604020202020204" pitchFamily="34" charset="0"/>
                <a:ea typeface="微軟正黑體" panose="020B0604030504040204" pitchFamily="34" charset="-120"/>
              </a:rPr>
              <a:t>展示全部的交易記錄，綠色的為收入、紅色的為支出。</a:t>
            </a:r>
          </a:p>
        </p:txBody>
      </p:sp>
      <p:pic>
        <p:nvPicPr>
          <p:cNvPr id="3" name="圖片 2" descr="一張含有 行動電話, 文字, 行動裝置, 小工具 的圖片&#10;&#10;AI 產生的內容可能不正確。">
            <a:extLst>
              <a:ext uri="{FF2B5EF4-FFF2-40B4-BE49-F238E27FC236}">
                <a16:creationId xmlns:a16="http://schemas.microsoft.com/office/drawing/2014/main" id="{62472648-7550-CBAC-8DBF-DA98B67D4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495" y="749248"/>
            <a:ext cx="3201221" cy="6108752"/>
          </a:xfrm>
          <a:prstGeom prst="rect">
            <a:avLst/>
          </a:prstGeom>
        </p:spPr>
      </p:pic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9EBE28E1-86F0-7366-29E0-910E1A4E508B}"/>
              </a:ext>
            </a:extLst>
          </p:cNvPr>
          <p:cNvCxnSpPr>
            <a:endCxn id="15" idx="1"/>
          </p:cNvCxnSpPr>
          <p:nvPr/>
        </p:nvCxnSpPr>
        <p:spPr>
          <a:xfrm>
            <a:off x="4348480" y="2458693"/>
            <a:ext cx="5522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E86EA46E-7770-B6EF-64A9-620DDE4F35B2}"/>
              </a:ext>
            </a:extLst>
          </p:cNvPr>
          <p:cNvCxnSpPr/>
          <p:nvPr/>
        </p:nvCxnSpPr>
        <p:spPr>
          <a:xfrm>
            <a:off x="4348480" y="3931893"/>
            <a:ext cx="55225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8501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88CE7-716E-C6B7-239E-263270EBB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一張含有 文字, 行動電話, 行動裝置, 通訊設備 的圖片&#10;&#10;AI 產生的內容可能不正確。">
            <a:extLst>
              <a:ext uri="{FF2B5EF4-FFF2-40B4-BE49-F238E27FC236}">
                <a16:creationId xmlns:a16="http://schemas.microsoft.com/office/drawing/2014/main" id="{CF3201F4-F388-7E90-9FCF-47CD61084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01039"/>
            <a:ext cx="3464857" cy="6045528"/>
          </a:xfrm>
          <a:prstGeom prst="rect">
            <a:avLst/>
          </a:prstGeom>
        </p:spPr>
      </p:pic>
      <p:pic>
        <p:nvPicPr>
          <p:cNvPr id="11" name="圖片 10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6FE119FE-98A2-7F32-D0F4-1ED1E45C8E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1017" y="1249809"/>
            <a:ext cx="3419952" cy="2743583"/>
          </a:xfrm>
          <a:prstGeom prst="rect">
            <a:avLst/>
          </a:prstGeom>
        </p:spPr>
      </p:pic>
      <p:pic>
        <p:nvPicPr>
          <p:cNvPr id="13" name="圖片 12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FB5B8A77-4027-BF69-77EA-1C4C65CC62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21017" y="3993392"/>
            <a:ext cx="3419952" cy="2295845"/>
          </a:xfrm>
          <a:prstGeom prst="rect">
            <a:avLst/>
          </a:prstGeom>
        </p:spPr>
      </p:pic>
      <p:sp>
        <p:nvSpPr>
          <p:cNvPr id="14" name="標題 1">
            <a:extLst>
              <a:ext uri="{FF2B5EF4-FFF2-40B4-BE49-F238E27FC236}">
                <a16:creationId xmlns:a16="http://schemas.microsoft.com/office/drawing/2014/main" id="{F6C85A47-7549-655E-A323-AF195E2B580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01038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4000"/>
              </a:lnSpc>
            </a:pPr>
            <a:r>
              <a:rPr lang="zh-TW" altLang="en-US" sz="32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專案展示</a:t>
            </a: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1D8C5618-5C1E-C555-2B6A-CA2D55D494C3}"/>
              </a:ext>
            </a:extLst>
          </p:cNvPr>
          <p:cNvSpPr txBox="1">
            <a:spLocks/>
          </p:cNvSpPr>
          <p:nvPr/>
        </p:nvSpPr>
        <p:spPr>
          <a:xfrm>
            <a:off x="6822325" y="2342883"/>
            <a:ext cx="5369675" cy="217223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b="1" dirty="0">
                <a:latin typeface="Arial" panose="020B0604020202020204" pitchFamily="34" charset="0"/>
                <a:ea typeface="微軟正黑體" panose="020B0604030504040204" pitchFamily="34" charset="-120"/>
              </a:rPr>
              <a:t>新增記錄功能：</a:t>
            </a:r>
            <a:endParaRPr lang="en-US" altLang="zh-TW" sz="3200" b="1" dirty="0">
              <a:latin typeface="Arial" panose="020B0604020202020204" pitchFamily="34" charset="0"/>
              <a:ea typeface="微軟正黑體" panose="020B0604030504040204" pitchFamily="34" charset="-120"/>
            </a:endParaRPr>
          </a:p>
          <a:p>
            <a:r>
              <a:rPr lang="zh-TW" altLang="en-US" sz="2800" dirty="0">
                <a:latin typeface="Arial" panose="020B0604020202020204" pitchFamily="34" charset="0"/>
                <a:ea typeface="微軟正黑體" panose="020B0604030504040204" pitchFamily="34" charset="-120"/>
              </a:rPr>
              <a:t>按下按鈕開啟新增記錄介面，選擇日期、收支、類別、輸入金額與註記。</a:t>
            </a:r>
            <a:endParaRPr lang="en-US" altLang="zh-TW" sz="2800" dirty="0">
              <a:latin typeface="Arial" panose="020B0604020202020204" pitchFamily="34" charset="0"/>
              <a:ea typeface="微軟正黑體" panose="020B0604030504040204" pitchFamily="34" charset="-120"/>
            </a:endParaRPr>
          </a:p>
          <a:p>
            <a:r>
              <a:rPr lang="zh-TW" altLang="en-US" sz="2800" dirty="0">
                <a:latin typeface="Arial" panose="020B0604020202020204" pitchFamily="34" charset="0"/>
                <a:ea typeface="微軟正黑體" panose="020B0604030504040204" pitchFamily="34" charset="-120"/>
              </a:rPr>
              <a:t>按下新增按鍵新增記錄。</a:t>
            </a:r>
          </a:p>
        </p:txBody>
      </p:sp>
    </p:spTree>
    <p:extLst>
      <p:ext uri="{BB962C8B-B14F-4D97-AF65-F5344CB8AC3E}">
        <p14:creationId xmlns:p14="http://schemas.microsoft.com/office/powerpoint/2010/main" val="621697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F7416-BD80-D408-F564-E9BD5A198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行動電話, 行動裝置, 文字, 小工具 的圖片&#10;&#10;AI 產生的內容可能不正確。">
            <a:extLst>
              <a:ext uri="{FF2B5EF4-FFF2-40B4-BE49-F238E27FC236}">
                <a16:creationId xmlns:a16="http://schemas.microsoft.com/office/drawing/2014/main" id="{AB158BBB-EF63-C755-B468-72963A5D5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23" y="756442"/>
            <a:ext cx="3178350" cy="6101557"/>
          </a:xfrm>
          <a:prstGeom prst="rect">
            <a:avLst/>
          </a:prstGeom>
        </p:spPr>
      </p:pic>
      <p:pic>
        <p:nvPicPr>
          <p:cNvPr id="7" name="圖片 6" descr="一張含有 行動電話, 文字, 行動裝置, 小工具 的圖片&#10;&#10;AI 產生的內容可能不正確。">
            <a:extLst>
              <a:ext uri="{FF2B5EF4-FFF2-40B4-BE49-F238E27FC236}">
                <a16:creationId xmlns:a16="http://schemas.microsoft.com/office/drawing/2014/main" id="{5BA5B992-D36D-D78E-09FA-16CC0988BC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2309" y="756442"/>
            <a:ext cx="3197451" cy="6101557"/>
          </a:xfrm>
          <a:prstGeom prst="rect">
            <a:avLst/>
          </a:prstGeom>
        </p:spPr>
      </p:pic>
      <p:pic>
        <p:nvPicPr>
          <p:cNvPr id="9" name="圖形 8" descr="游標 以實心填滿">
            <a:extLst>
              <a:ext uri="{FF2B5EF4-FFF2-40B4-BE49-F238E27FC236}">
                <a16:creationId xmlns:a16="http://schemas.microsoft.com/office/drawing/2014/main" id="{53B122B3-0F64-91B5-08B0-090BEA7136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80383" y="4103637"/>
            <a:ext cx="520018" cy="520018"/>
          </a:xfrm>
          <a:prstGeom prst="rect">
            <a:avLst/>
          </a:prstGeom>
        </p:spPr>
      </p:pic>
      <p:sp>
        <p:nvSpPr>
          <p:cNvPr id="13" name="標題 1">
            <a:extLst>
              <a:ext uri="{FF2B5EF4-FFF2-40B4-BE49-F238E27FC236}">
                <a16:creationId xmlns:a16="http://schemas.microsoft.com/office/drawing/2014/main" id="{59D54011-D222-7C19-09E6-B9E47FB5156D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01038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4000"/>
              </a:lnSpc>
            </a:pPr>
            <a:r>
              <a:rPr lang="zh-TW" altLang="en-US" sz="32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專案展示</a:t>
            </a:r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093F271D-5378-4C3C-B786-04070B80AC8C}"/>
              </a:ext>
            </a:extLst>
          </p:cNvPr>
          <p:cNvSpPr txBox="1">
            <a:spLocks/>
          </p:cNvSpPr>
          <p:nvPr/>
        </p:nvSpPr>
        <p:spPr>
          <a:xfrm>
            <a:off x="6822325" y="2754363"/>
            <a:ext cx="5369675" cy="13492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3200" b="1" dirty="0">
                <a:latin typeface="Arial" panose="020B0604020202020204" pitchFamily="34" charset="0"/>
                <a:ea typeface="微軟正黑體" panose="020B0604030504040204" pitchFamily="34" charset="-120"/>
              </a:rPr>
              <a:t>刪除記錄功能：</a:t>
            </a:r>
            <a:endParaRPr lang="en-US" altLang="zh-TW" sz="3200" b="1" dirty="0">
              <a:latin typeface="Arial" panose="020B0604020202020204" pitchFamily="34" charset="0"/>
              <a:ea typeface="微軟正黑體" panose="020B0604030504040204" pitchFamily="34" charset="-120"/>
            </a:endParaRPr>
          </a:p>
          <a:p>
            <a:r>
              <a:rPr lang="zh-TW" altLang="en-US" sz="2800" dirty="0">
                <a:latin typeface="Arial" panose="020B0604020202020204" pitchFamily="34" charset="0"/>
                <a:ea typeface="微軟正黑體" panose="020B0604030504040204" pitchFamily="34" charset="-120"/>
              </a:rPr>
              <a:t>按下記錄旁邊的刪除按鈕把該筆記錄刪除。</a:t>
            </a:r>
          </a:p>
        </p:txBody>
      </p:sp>
      <p:sp>
        <p:nvSpPr>
          <p:cNvPr id="15" name="箭號: 向右 14">
            <a:extLst>
              <a:ext uri="{FF2B5EF4-FFF2-40B4-BE49-F238E27FC236}">
                <a16:creationId xmlns:a16="http://schemas.microsoft.com/office/drawing/2014/main" id="{51643FB9-EBDA-E4A3-8E13-D5A20486E7FD}"/>
              </a:ext>
            </a:extLst>
          </p:cNvPr>
          <p:cNvSpPr/>
          <p:nvPr/>
        </p:nvSpPr>
        <p:spPr>
          <a:xfrm>
            <a:off x="3251273" y="3664980"/>
            <a:ext cx="579120" cy="28448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1488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線上媒體 3" title="IOS專題展示影片">
            <a:hlinkClick r:id="" action="ppaction://media"/>
            <a:extLst>
              <a:ext uri="{FF2B5EF4-FFF2-40B4-BE49-F238E27FC236}">
                <a16:creationId xmlns:a16="http://schemas.microsoft.com/office/drawing/2014/main" id="{B8B718B4-062F-2FAA-2C9B-A772856AE5D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643099" y="701039"/>
            <a:ext cx="10905802" cy="6156961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DE9F1499-85D0-42BA-44D4-A01CFE348D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01038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4000"/>
              </a:lnSpc>
            </a:pPr>
            <a:r>
              <a:rPr lang="zh-TW" altLang="en-US" sz="3200" dirty="0">
                <a:solidFill>
                  <a:schemeClr val="bg1"/>
                </a:solidFill>
                <a:latin typeface="Arial" panose="020B0604020202020204" pitchFamily="34" charset="0"/>
                <a:ea typeface="微軟正黑體" panose="020B0604030504040204" pitchFamily="34" charset="-120"/>
              </a:rPr>
              <a:t>操作過程</a:t>
            </a:r>
          </a:p>
        </p:txBody>
      </p:sp>
    </p:spTree>
    <p:extLst>
      <p:ext uri="{BB962C8B-B14F-4D97-AF65-F5344CB8AC3E}">
        <p14:creationId xmlns:p14="http://schemas.microsoft.com/office/powerpoint/2010/main" val="3139645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367</Words>
  <Application>Microsoft Office PowerPoint</Application>
  <PresentationFormat>寬螢幕</PresentationFormat>
  <Paragraphs>35</Paragraphs>
  <Slides>6</Slides>
  <Notes>5</Notes>
  <HiddenSlides>0</HiddenSlides>
  <MMClips>1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佈景主題</vt:lpstr>
      <vt:lpstr> IOS程式設計實務期末專案 IOS記帳APP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C111118121</dc:creator>
  <cp:lastModifiedBy>C111118121</cp:lastModifiedBy>
  <cp:revision>101</cp:revision>
  <dcterms:created xsi:type="dcterms:W3CDTF">2026-01-07T09:18:38Z</dcterms:created>
  <dcterms:modified xsi:type="dcterms:W3CDTF">2026-01-08T01:48:02Z</dcterms:modified>
</cp:coreProperties>
</file>